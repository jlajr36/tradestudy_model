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64" r:id="rId4"/>
    <p:sldId id="263" r:id="rId5"/>
    <p:sldId id="262" r:id="rId6"/>
    <p:sldId id="266" r:id="rId7"/>
    <p:sldId id="267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01BEA-C957-41C1-A723-3E2321791156}" type="datetimeFigureOut">
              <a:rPr lang="en-US" smtClean="0"/>
              <a:t>5/4/2021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73368-ED0E-430E-80BB-BF5FB44DE0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8390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01BEA-C957-41C1-A723-3E2321791156}" type="datetimeFigureOut">
              <a:rPr lang="en-US" smtClean="0"/>
              <a:t>5/4/2021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73368-ED0E-430E-80BB-BF5FB44DE0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4048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01BEA-C957-41C1-A723-3E2321791156}" type="datetimeFigureOut">
              <a:rPr lang="en-US" smtClean="0"/>
              <a:t>5/4/2021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73368-ED0E-430E-80BB-BF5FB44DE0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2231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01BEA-C957-41C1-A723-3E2321791156}" type="datetimeFigureOut">
              <a:rPr lang="en-US" smtClean="0"/>
              <a:t>5/4/2021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73368-ED0E-430E-80BB-BF5FB44DE0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7293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01BEA-C957-41C1-A723-3E2321791156}" type="datetimeFigureOut">
              <a:rPr lang="en-US" smtClean="0"/>
              <a:t>5/4/2021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73368-ED0E-430E-80BB-BF5FB44DE0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2572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01BEA-C957-41C1-A723-3E2321791156}" type="datetimeFigureOut">
              <a:rPr lang="en-US" smtClean="0"/>
              <a:t>5/4/2021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73368-ED0E-430E-80BB-BF5FB44DE0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6494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01BEA-C957-41C1-A723-3E2321791156}" type="datetimeFigureOut">
              <a:rPr lang="en-US" smtClean="0"/>
              <a:t>5/4/2021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73368-ED0E-430E-80BB-BF5FB44DE0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4108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01BEA-C957-41C1-A723-3E2321791156}" type="datetimeFigureOut">
              <a:rPr lang="en-US" smtClean="0"/>
              <a:t>5/4/2021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73368-ED0E-430E-80BB-BF5FB44DE0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1649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01BEA-C957-41C1-A723-3E2321791156}" type="datetimeFigureOut">
              <a:rPr lang="en-US" smtClean="0"/>
              <a:t>5/4/2021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73368-ED0E-430E-80BB-BF5FB44DE0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2186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01BEA-C957-41C1-A723-3E2321791156}" type="datetimeFigureOut">
              <a:rPr lang="en-US" smtClean="0"/>
              <a:t>5/4/2021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73368-ED0E-430E-80BB-BF5FB44DE0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3791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01BEA-C957-41C1-A723-3E2321791156}" type="datetimeFigureOut">
              <a:rPr lang="en-US" smtClean="0"/>
              <a:t>5/4/2021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73368-ED0E-430E-80BB-BF5FB44DE0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0962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401BEA-C957-41C1-A723-3E2321791156}" type="datetimeFigureOut">
              <a:rPr lang="en-US" smtClean="0"/>
              <a:t>5/4/2021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C73368-ED0E-430E-80BB-BF5FB44DE0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8989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Automatic Architectural Trade Studies in SysML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6073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Definition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A trade study or trade-off study is the activity of a multidisciplinary team to identify the most balanced technical solutions among a set of proposed viable solutions </a:t>
            </a:r>
            <a:endParaRPr lang="en-US" dirty="0" smtClean="0"/>
          </a:p>
          <a:p>
            <a:pPr marL="0" indent="0">
              <a:buNone/>
            </a:pPr>
            <a:r>
              <a:rPr lang="en-US" sz="1900" dirty="0" smtClean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en-US" sz="1900" dirty="0">
                <a:solidFill>
                  <a:schemeClr val="bg1">
                    <a:lumMod val="50000"/>
                  </a:schemeClr>
                </a:solidFill>
              </a:rPr>
              <a:t>System Engineering Manual, Federal Aviation Administration, 2006</a:t>
            </a:r>
            <a:r>
              <a:rPr lang="en-US" sz="1900" dirty="0" smtClean="0">
                <a:solidFill>
                  <a:schemeClr val="bg1">
                    <a:lumMod val="50000"/>
                  </a:schemeClr>
                </a:solidFill>
              </a:rPr>
              <a:t>)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 </a:t>
            </a:r>
            <a:endParaRPr lang="en-US" dirty="0" smtClean="0">
              <a:solidFill>
                <a:schemeClr val="bg1">
                  <a:lumMod val="50000"/>
                </a:schemeClr>
              </a:solidFill>
            </a:endParaRP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 trade study is used to compare with a number of alternative solutions to see whether and how well they satisfy a particular set of criteria. Each solution is characterized by a set of measures of effectiveness (often abbreviated “</a:t>
            </a:r>
            <a:r>
              <a:rPr lang="en-US" dirty="0" err="1"/>
              <a:t>moe’s</a:t>
            </a:r>
            <a:r>
              <a:rPr lang="en-US" dirty="0"/>
              <a:t>”) that corresponds to evaluation criteria and has a calculated value or value distribution. The </a:t>
            </a:r>
            <a:r>
              <a:rPr lang="en-US" dirty="0" err="1"/>
              <a:t>moe’s</a:t>
            </a:r>
            <a:r>
              <a:rPr lang="en-US" dirty="0"/>
              <a:t> for a given solution is then evaluated using an objective function (often called a cost function or utility function), and the results for each alternative are compared to select a preferred solution</a:t>
            </a:r>
            <a:r>
              <a:rPr lang="en-US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30456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Sample</a:t>
            </a:r>
            <a:endParaRPr lang="en-US" dirty="0"/>
          </a:p>
        </p:txBody>
      </p:sp>
      <p:pic>
        <p:nvPicPr>
          <p:cNvPr id="6" name="Picture 4" descr="Blue Satellite Solar Battery Infinite Radar Transmission Cartoon  Illustration, Hand Drawn Satellite Illustration, White Hull, Blue Satellite  PNG Transparent Clipart Image and PSD File for Free Downloa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93190" y="4239682"/>
            <a:ext cx="2399951" cy="22999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1582" y="2232948"/>
            <a:ext cx="7001532" cy="4403723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6709756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 smtClean="0"/>
              <a:t>Sample Trade Studies</a:t>
            </a:r>
          </a:p>
          <a:p>
            <a:r>
              <a:rPr lang="en-US" sz="2400" dirty="0" smtClean="0"/>
              <a:t>Small Sat Constellation vs Large Sat in Geo</a:t>
            </a:r>
          </a:p>
          <a:p>
            <a:r>
              <a:rPr lang="en-US" sz="2400" dirty="0" smtClean="0"/>
              <a:t>Number in constellation vs cost, performance, graceful degradation</a:t>
            </a:r>
          </a:p>
          <a:p>
            <a:r>
              <a:rPr lang="en-US" sz="2400" dirty="0" smtClean="0"/>
              <a:t>Body mounted vs gimbaled solar array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9838280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Trade Study Steps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 smtClean="0"/>
              <a:t>Identify key system functions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Identify candidate solutions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Define assessment criteria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Assign weights to criteria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Define utility curve for each criterion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Assign </a:t>
            </a:r>
            <a:r>
              <a:rPr lang="en-US" dirty="0" err="1" smtClean="0"/>
              <a:t>MoEs</a:t>
            </a:r>
            <a:r>
              <a:rPr lang="en-US" dirty="0" smtClean="0"/>
              <a:t> to candidate solutions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Perform sensitivity analysis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Determine solution </a:t>
            </a:r>
          </a:p>
          <a:p>
            <a:pPr marL="514350" indent="-514350">
              <a:buFont typeface="+mj-lt"/>
              <a:buAutoNum type="arabicPeriod"/>
            </a:pPr>
            <a:endParaRPr lang="en-US" dirty="0" smtClean="0"/>
          </a:p>
          <a:p>
            <a:endParaRPr lang="en-US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543" y="1825625"/>
            <a:ext cx="3398258" cy="4193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03167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Capability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25625"/>
            <a:ext cx="4523637" cy="4351338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Simulation </a:t>
            </a:r>
            <a:r>
              <a:rPr lang="en-US" dirty="0"/>
              <a:t>Toolkit has built-in support for trade study </a:t>
            </a:r>
            <a:r>
              <a:rPr lang="en-US" dirty="0" smtClean="0"/>
              <a:t>analysis based on system architecture alternatives. Including:</a:t>
            </a:r>
          </a:p>
          <a:p>
            <a:pPr lvl="1"/>
            <a:r>
              <a:rPr lang="en-US" dirty="0" smtClean="0"/>
              <a:t>Alternative identification in Excel, instances, subtypes.</a:t>
            </a:r>
          </a:p>
          <a:p>
            <a:pPr lvl="1"/>
            <a:r>
              <a:rPr lang="en-US" dirty="0" smtClean="0"/>
              <a:t>Requirements check and incorrect variants discard.</a:t>
            </a:r>
          </a:p>
          <a:p>
            <a:pPr lvl="1"/>
            <a:r>
              <a:rPr lang="en-US" dirty="0" smtClean="0"/>
              <a:t>Automatic variants generation.</a:t>
            </a:r>
          </a:p>
          <a:p>
            <a:pPr lvl="1"/>
            <a:r>
              <a:rPr lang="en-US" dirty="0" smtClean="0"/>
              <a:t>Results generation as instance, CSV, </a:t>
            </a:r>
            <a:r>
              <a:rPr lang="en-US" dirty="0" err="1" smtClean="0"/>
              <a:t>etc</a:t>
            </a:r>
            <a:r>
              <a:rPr lang="en-US" dirty="0" smtClean="0"/>
              <a:t> including number of runs, winner, score, out of spec.</a:t>
            </a:r>
          </a:p>
          <a:p>
            <a:pPr lvl="1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1837" y="1897719"/>
            <a:ext cx="6159604" cy="4207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75819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Demo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3403" y="1165322"/>
            <a:ext cx="8450897" cy="5382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67215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Future Plans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Model-based Product Line Engineering (MBPLE) based system model variants</a:t>
            </a:r>
          </a:p>
          <a:p>
            <a:r>
              <a:rPr lang="en-US" dirty="0" smtClean="0"/>
              <a:t>Design models integrated multilevel trade studies and analysis using advance algorithms and results analytics using </a:t>
            </a:r>
            <a:r>
              <a:rPr lang="en-US" dirty="0" err="1" smtClean="0"/>
              <a:t>Dassault</a:t>
            </a:r>
            <a:r>
              <a:rPr lang="en-US" dirty="0" smtClean="0"/>
              <a:t> System 3DExperience platform Process Composer</a:t>
            </a:r>
          </a:p>
          <a:p>
            <a:endParaRPr lang="en-US" dirty="0" smtClean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D173DD6-4FAE-ED47-BB8E-BCE690926C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363" y="4348917"/>
            <a:ext cx="3914017" cy="195054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B803C1A-1B77-6B47-A848-E879BA2A43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7298" y="4001294"/>
            <a:ext cx="3480098" cy="2645796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6314" y="4502666"/>
            <a:ext cx="3177049" cy="1643049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1789654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633</TotalTime>
  <Words>296</Words>
  <Application>Microsoft Office PowerPoint</Application>
  <PresentationFormat>Widescreen</PresentationFormat>
  <Paragraphs>30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Automatic Architectural Trade Studies in SysML</vt:lpstr>
      <vt:lpstr>Definition</vt:lpstr>
      <vt:lpstr>Sample</vt:lpstr>
      <vt:lpstr>Trade Study Steps</vt:lpstr>
      <vt:lpstr>Capability</vt:lpstr>
      <vt:lpstr>Demo</vt:lpstr>
      <vt:lpstr>Future Plans</vt:lpstr>
    </vt:vector>
  </TitlesOfParts>
  <Company>DASSAULT SYSTEMES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Automatic Trade Study Analysis Using System Model in SysML</dc:title>
  <dc:creator>PAVALKIS Saulius</dc:creator>
  <cp:lastModifiedBy>PAVALKIS Saulius</cp:lastModifiedBy>
  <cp:revision>15</cp:revision>
  <dcterms:created xsi:type="dcterms:W3CDTF">2021-05-04T13:48:22Z</dcterms:created>
  <dcterms:modified xsi:type="dcterms:W3CDTF">2021-05-05T00:21:58Z</dcterms:modified>
</cp:coreProperties>
</file>